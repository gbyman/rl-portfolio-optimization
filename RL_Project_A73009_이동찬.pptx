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AE59F-DA6A-486F-B58E-42BE286DA3CF}" v="614" dt="2025-12-07T08:25:17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찬 이" userId="2e13162d811cfad5" providerId="Windows Live" clId="Web-{1CEAE59F-DA6A-486F-B58E-42BE286DA3CF}"/>
    <pc:docChg chg="addSld delSld modSld">
      <pc:chgData name="동찬 이" userId="2e13162d811cfad5" providerId="Windows Live" clId="Web-{1CEAE59F-DA6A-486F-B58E-42BE286DA3CF}" dt="2025-12-07T08:25:17.116" v="631" actId="20577"/>
      <pc:docMkLst>
        <pc:docMk/>
      </pc:docMkLst>
      <pc:sldChg chg="modSp">
        <pc:chgData name="동찬 이" userId="2e13162d811cfad5" providerId="Windows Live" clId="Web-{1CEAE59F-DA6A-486F-B58E-42BE286DA3CF}" dt="2025-12-07T07:50:34.937" v="72" actId="20577"/>
        <pc:sldMkLst>
          <pc:docMk/>
          <pc:sldMk cId="3569210928" sldId="256"/>
        </pc:sldMkLst>
        <pc:spChg chg="mod">
          <ac:chgData name="동찬 이" userId="2e13162d811cfad5" providerId="Windows Live" clId="Web-{1CEAE59F-DA6A-486F-B58E-42BE286DA3CF}" dt="2025-12-07T07:50:34.937" v="72" actId="20577"/>
          <ac:spMkLst>
            <pc:docMk/>
            <pc:sldMk cId="3569210928" sldId="256"/>
            <ac:spMk id="2" creationId="{00000000-0000-0000-0000-000000000000}"/>
          </ac:spMkLst>
        </pc:spChg>
        <pc:spChg chg="mod">
          <ac:chgData name="동찬 이" userId="2e13162d811cfad5" providerId="Windows Live" clId="Web-{1CEAE59F-DA6A-486F-B58E-42BE286DA3CF}" dt="2025-12-07T07:38:49.401" v="30" actId="20577"/>
          <ac:spMkLst>
            <pc:docMk/>
            <pc:sldMk cId="3569210928" sldId="256"/>
            <ac:spMk id="3" creationId="{00000000-0000-0000-0000-000000000000}"/>
          </ac:spMkLst>
        </pc:spChg>
      </pc:sldChg>
      <pc:sldChg chg="delSp modSp new">
        <pc:chgData name="동찬 이" userId="2e13162d811cfad5" providerId="Windows Live" clId="Web-{1CEAE59F-DA6A-486F-B58E-42BE286DA3CF}" dt="2025-12-07T08:11:33.339" v="483" actId="20577"/>
        <pc:sldMkLst>
          <pc:docMk/>
          <pc:sldMk cId="789381147" sldId="257"/>
        </pc:sldMkLst>
        <pc:spChg chg="mod">
          <ac:chgData name="동찬 이" userId="2e13162d811cfad5" providerId="Windows Live" clId="Web-{1CEAE59F-DA6A-486F-B58E-42BE286DA3CF}" dt="2025-12-07T08:11:33.339" v="483" actId="20577"/>
          <ac:spMkLst>
            <pc:docMk/>
            <pc:sldMk cId="789381147" sldId="257"/>
            <ac:spMk id="2" creationId="{3037E934-2B43-61FA-1CCC-873E21C910B6}"/>
          </ac:spMkLst>
        </pc:spChg>
        <pc:spChg chg="del">
          <ac:chgData name="동찬 이" userId="2e13162d811cfad5" providerId="Windows Live" clId="Web-{1CEAE59F-DA6A-486F-B58E-42BE286DA3CF}" dt="2025-12-07T07:51:23.875" v="85"/>
          <ac:spMkLst>
            <pc:docMk/>
            <pc:sldMk cId="789381147" sldId="257"/>
            <ac:spMk id="3" creationId="{FA75CDC4-4236-4055-FD69-F5B749B21AA1}"/>
          </ac:spMkLst>
        </pc:spChg>
      </pc:sldChg>
      <pc:sldChg chg="new del">
        <pc:chgData name="동찬 이" userId="2e13162d811cfad5" providerId="Windows Live" clId="Web-{1CEAE59F-DA6A-486F-B58E-42BE286DA3CF}" dt="2025-12-07T07:59:08.562" v="140"/>
        <pc:sldMkLst>
          <pc:docMk/>
          <pc:sldMk cId="1788524511" sldId="258"/>
        </pc:sldMkLst>
      </pc:sldChg>
      <pc:sldChg chg="addSp delSp modSp new">
        <pc:chgData name="동찬 이" userId="2e13162d811cfad5" providerId="Windows Live" clId="Web-{1CEAE59F-DA6A-486F-B58E-42BE286DA3CF}" dt="2025-12-07T08:07:33.083" v="428" actId="20577"/>
        <pc:sldMkLst>
          <pc:docMk/>
          <pc:sldMk cId="3004368213" sldId="258"/>
        </pc:sldMkLst>
        <pc:spChg chg="mod">
          <ac:chgData name="동찬 이" userId="2e13162d811cfad5" providerId="Windows Live" clId="Web-{1CEAE59F-DA6A-486F-B58E-42BE286DA3CF}" dt="2025-12-07T08:07:33.083" v="428" actId="20577"/>
          <ac:spMkLst>
            <pc:docMk/>
            <pc:sldMk cId="3004368213" sldId="258"/>
            <ac:spMk id="2" creationId="{94DC626F-23FF-CA33-6DFB-522FCB33259E}"/>
          </ac:spMkLst>
        </pc:spChg>
        <pc:spChg chg="del">
          <ac:chgData name="동찬 이" userId="2e13162d811cfad5" providerId="Windows Live" clId="Web-{1CEAE59F-DA6A-486F-B58E-42BE286DA3CF}" dt="2025-12-07T08:00:14.235" v="177"/>
          <ac:spMkLst>
            <pc:docMk/>
            <pc:sldMk cId="3004368213" sldId="258"/>
            <ac:spMk id="3" creationId="{B48CC88F-7D07-87E0-0720-4DB141638952}"/>
          </ac:spMkLst>
        </pc:spChg>
        <pc:spChg chg="add del mod">
          <ac:chgData name="동찬 이" userId="2e13162d811cfad5" providerId="Windows Live" clId="Web-{1CEAE59F-DA6A-486F-B58E-42BE286DA3CF}" dt="2025-12-07T08:06:30.159" v="419"/>
          <ac:spMkLst>
            <pc:docMk/>
            <pc:sldMk cId="3004368213" sldId="258"/>
            <ac:spMk id="5" creationId="{D100413A-55EB-4971-6497-783877F9698E}"/>
          </ac:spMkLst>
        </pc:spChg>
      </pc:sldChg>
      <pc:sldChg chg="addSp delSp modSp add del replId">
        <pc:chgData name="동찬 이" userId="2e13162d811cfad5" providerId="Windows Live" clId="Web-{1CEAE59F-DA6A-486F-B58E-42BE286DA3CF}" dt="2025-12-07T07:59:52.938" v="154"/>
        <pc:sldMkLst>
          <pc:docMk/>
          <pc:sldMk cId="3254673509" sldId="258"/>
        </pc:sldMkLst>
        <pc:spChg chg="del mod">
          <ac:chgData name="동찬 이" userId="2e13162d811cfad5" providerId="Windows Live" clId="Web-{1CEAE59F-DA6A-486F-B58E-42BE286DA3CF}" dt="2025-12-07T07:59:51.610" v="153"/>
          <ac:spMkLst>
            <pc:docMk/>
            <pc:sldMk cId="3254673509" sldId="258"/>
            <ac:spMk id="2" creationId="{84BFFA5B-2556-9888-496A-E3546FAE4F03}"/>
          </ac:spMkLst>
        </pc:spChg>
        <pc:spChg chg="add mod">
          <ac:chgData name="동찬 이" userId="2e13162d811cfad5" providerId="Windows Live" clId="Web-{1CEAE59F-DA6A-486F-B58E-42BE286DA3CF}" dt="2025-12-07T07:59:51.610" v="153"/>
          <ac:spMkLst>
            <pc:docMk/>
            <pc:sldMk cId="3254673509" sldId="258"/>
            <ac:spMk id="4" creationId="{6D5D1524-FB0C-2301-0520-1DCE7F2163C0}"/>
          </ac:spMkLst>
        </pc:spChg>
      </pc:sldChg>
      <pc:sldChg chg="modSp new">
        <pc:chgData name="동찬 이" userId="2e13162d811cfad5" providerId="Windows Live" clId="Web-{1CEAE59F-DA6A-486F-B58E-42BE286DA3CF}" dt="2025-12-07T08:18:28.988" v="556" actId="20577"/>
        <pc:sldMkLst>
          <pc:docMk/>
          <pc:sldMk cId="1942602941" sldId="259"/>
        </pc:sldMkLst>
        <pc:spChg chg="mod">
          <ac:chgData name="동찬 이" userId="2e13162d811cfad5" providerId="Windows Live" clId="Web-{1CEAE59F-DA6A-486F-B58E-42BE286DA3CF}" dt="2025-12-07T08:08:42.194" v="446" actId="1076"/>
          <ac:spMkLst>
            <pc:docMk/>
            <pc:sldMk cId="1942602941" sldId="259"/>
            <ac:spMk id="2" creationId="{DD2105F0-CB74-F625-F724-F0D4F7A339C5}"/>
          </ac:spMkLst>
        </pc:spChg>
        <pc:spChg chg="mod">
          <ac:chgData name="동찬 이" userId="2e13162d811cfad5" providerId="Windows Live" clId="Web-{1CEAE59F-DA6A-486F-B58E-42BE286DA3CF}" dt="2025-12-07T08:18:28.988" v="556" actId="20577"/>
          <ac:spMkLst>
            <pc:docMk/>
            <pc:sldMk cId="1942602941" sldId="259"/>
            <ac:spMk id="3" creationId="{729A4BC3-A2B2-2874-4D54-0F6BA54E8E67}"/>
          </ac:spMkLst>
        </pc:spChg>
      </pc:sldChg>
      <pc:sldChg chg="modSp new">
        <pc:chgData name="동찬 이" userId="2e13162d811cfad5" providerId="Windows Live" clId="Web-{1CEAE59F-DA6A-486F-B58E-42BE286DA3CF}" dt="2025-12-07T08:25:17.116" v="631" actId="20577"/>
        <pc:sldMkLst>
          <pc:docMk/>
          <pc:sldMk cId="3899931104" sldId="260"/>
        </pc:sldMkLst>
        <pc:spChg chg="mod">
          <ac:chgData name="동찬 이" userId="2e13162d811cfad5" providerId="Windows Live" clId="Web-{1CEAE59F-DA6A-486F-B58E-42BE286DA3CF}" dt="2025-12-07T08:15:10.079" v="512" actId="20577"/>
          <ac:spMkLst>
            <pc:docMk/>
            <pc:sldMk cId="3899931104" sldId="260"/>
            <ac:spMk id="2" creationId="{3D88D5B8-6B50-CAD2-3CF6-01DADC200755}"/>
          </ac:spMkLst>
        </pc:spChg>
        <pc:spChg chg="mod">
          <ac:chgData name="동찬 이" userId="2e13162d811cfad5" providerId="Windows Live" clId="Web-{1CEAE59F-DA6A-486F-B58E-42BE286DA3CF}" dt="2025-12-07T08:25:17.116" v="631" actId="20577"/>
          <ac:spMkLst>
            <pc:docMk/>
            <pc:sldMk cId="3899931104" sldId="260"/>
            <ac:spMk id="3" creationId="{C29A54B8-D828-CBD4-9A6B-C28D5AAF6B0A}"/>
          </ac:spMkLst>
        </pc:spChg>
      </pc:sldChg>
      <pc:sldChg chg="modSp new">
        <pc:chgData name="동찬 이" userId="2e13162d811cfad5" providerId="Windows Live" clId="Web-{1CEAE59F-DA6A-486F-B58E-42BE286DA3CF}" dt="2025-12-07T08:18:21.503" v="554" actId="20577"/>
        <pc:sldMkLst>
          <pc:docMk/>
          <pc:sldMk cId="3461387020" sldId="261"/>
        </pc:sldMkLst>
        <pc:spChg chg="mod">
          <ac:chgData name="동찬 이" userId="2e13162d811cfad5" providerId="Windows Live" clId="Web-{1CEAE59F-DA6A-486F-B58E-42BE286DA3CF}" dt="2025-12-07T08:15:16.251" v="513" actId="20577"/>
          <ac:spMkLst>
            <pc:docMk/>
            <pc:sldMk cId="3461387020" sldId="261"/>
            <ac:spMk id="2" creationId="{086C48B2-9AD4-E5BE-847B-4D0DF3B0F20B}"/>
          </ac:spMkLst>
        </pc:spChg>
        <pc:spChg chg="mod">
          <ac:chgData name="동찬 이" userId="2e13162d811cfad5" providerId="Windows Live" clId="Web-{1CEAE59F-DA6A-486F-B58E-42BE286DA3CF}" dt="2025-12-07T08:18:21.503" v="554" actId="20577"/>
          <ac:spMkLst>
            <pc:docMk/>
            <pc:sldMk cId="3461387020" sldId="261"/>
            <ac:spMk id="3" creationId="{D85A5F1E-8D66-1A58-3994-BB35E8F6EE96}"/>
          </ac:spMkLst>
        </pc:spChg>
      </pc:sldChg>
      <pc:sldChg chg="addSp delSp modSp new">
        <pc:chgData name="동찬 이" userId="2e13162d811cfad5" providerId="Windows Live" clId="Web-{1CEAE59F-DA6A-486F-B58E-42BE286DA3CF}" dt="2025-12-07T08:17:53.284" v="548" actId="1076"/>
        <pc:sldMkLst>
          <pc:docMk/>
          <pc:sldMk cId="877490935" sldId="262"/>
        </pc:sldMkLst>
        <pc:spChg chg="mod">
          <ac:chgData name="동찬 이" userId="2e13162d811cfad5" providerId="Windows Live" clId="Web-{1CEAE59F-DA6A-486F-B58E-42BE286DA3CF}" dt="2025-12-07T08:17:33.175" v="544" actId="20577"/>
          <ac:spMkLst>
            <pc:docMk/>
            <pc:sldMk cId="877490935" sldId="262"/>
            <ac:spMk id="2" creationId="{CB27ABDB-1CBA-8583-4139-BC2D683C3A58}"/>
          </ac:spMkLst>
        </pc:spChg>
        <pc:spChg chg="del">
          <ac:chgData name="동찬 이" userId="2e13162d811cfad5" providerId="Windows Live" clId="Web-{1CEAE59F-DA6A-486F-B58E-42BE286DA3CF}" dt="2025-12-07T08:17:43.315" v="545"/>
          <ac:spMkLst>
            <pc:docMk/>
            <pc:sldMk cId="877490935" sldId="262"/>
            <ac:spMk id="3" creationId="{CE92D91B-DA8E-496B-18B4-EEEFF9098FEC}"/>
          </ac:spMkLst>
        </pc:spChg>
        <pc:picChg chg="add mod ord">
          <ac:chgData name="동찬 이" userId="2e13162d811cfad5" providerId="Windows Live" clId="Web-{1CEAE59F-DA6A-486F-B58E-42BE286DA3CF}" dt="2025-12-07T08:17:53.284" v="548" actId="1076"/>
          <ac:picMkLst>
            <pc:docMk/>
            <pc:sldMk cId="877490935" sldId="262"/>
            <ac:picMk id="4" creationId="{71D4FD59-A4DE-3339-2F87-7ED87756B4BA}"/>
          </ac:picMkLst>
        </pc:picChg>
      </pc:sldChg>
      <pc:sldChg chg="delSp modSp new">
        <pc:chgData name="동찬 이" userId="2e13162d811cfad5" providerId="Windows Live" clId="Web-{1CEAE59F-DA6A-486F-B58E-42BE286DA3CF}" dt="2025-12-07T08:19:14.785" v="567" actId="20577"/>
        <pc:sldMkLst>
          <pc:docMk/>
          <pc:sldMk cId="1438457643" sldId="263"/>
        </pc:sldMkLst>
        <pc:spChg chg="del">
          <ac:chgData name="동찬 이" userId="2e13162d811cfad5" providerId="Windows Live" clId="Web-{1CEAE59F-DA6A-486F-B58E-42BE286DA3CF}" dt="2025-12-07T08:18:05.050" v="550"/>
          <ac:spMkLst>
            <pc:docMk/>
            <pc:sldMk cId="1438457643" sldId="263"/>
            <ac:spMk id="2" creationId="{251CBB03-F06B-FE38-0386-A8599CF4512A}"/>
          </ac:spMkLst>
        </pc:spChg>
        <pc:spChg chg="mod">
          <ac:chgData name="동찬 이" userId="2e13162d811cfad5" providerId="Windows Live" clId="Web-{1CEAE59F-DA6A-486F-B58E-42BE286DA3CF}" dt="2025-12-07T08:19:14.785" v="567" actId="20577"/>
          <ac:spMkLst>
            <pc:docMk/>
            <pc:sldMk cId="1438457643" sldId="263"/>
            <ac:spMk id="3" creationId="{1D9FC911-B8A4-29E8-BCC3-091813B2D6A0}"/>
          </ac:spMkLst>
        </pc:spChg>
      </pc:sldChg>
      <pc:sldChg chg="modSp new">
        <pc:chgData name="동찬 이" userId="2e13162d811cfad5" providerId="Windows Live" clId="Web-{1CEAE59F-DA6A-486F-B58E-42BE286DA3CF}" dt="2025-12-07T08:21:03.646" v="594" actId="20577"/>
        <pc:sldMkLst>
          <pc:docMk/>
          <pc:sldMk cId="4087419621" sldId="264"/>
        </pc:sldMkLst>
        <pc:spChg chg="mod">
          <ac:chgData name="동찬 이" userId="2e13162d811cfad5" providerId="Windows Live" clId="Web-{1CEAE59F-DA6A-486F-B58E-42BE286DA3CF}" dt="2025-12-07T08:20:03.192" v="573" actId="20577"/>
          <ac:spMkLst>
            <pc:docMk/>
            <pc:sldMk cId="4087419621" sldId="264"/>
            <ac:spMk id="2" creationId="{542083FC-3CB8-F8E3-AD44-FBFEF74E621E}"/>
          </ac:spMkLst>
        </pc:spChg>
        <pc:spChg chg="mod">
          <ac:chgData name="동찬 이" userId="2e13162d811cfad5" providerId="Windows Live" clId="Web-{1CEAE59F-DA6A-486F-B58E-42BE286DA3CF}" dt="2025-12-07T08:21:03.646" v="594" actId="20577"/>
          <ac:spMkLst>
            <pc:docMk/>
            <pc:sldMk cId="4087419621" sldId="264"/>
            <ac:spMk id="3" creationId="{01C81B4F-DA7B-FB02-6B5F-E1D01F137A9D}"/>
          </ac:spMkLst>
        </pc:spChg>
      </pc:sldChg>
      <pc:sldChg chg="modSp new">
        <pc:chgData name="동찬 이" userId="2e13162d811cfad5" providerId="Windows Live" clId="Web-{1CEAE59F-DA6A-486F-B58E-42BE286DA3CF}" dt="2025-12-07T08:23:23.506" v="627" actId="20577"/>
        <pc:sldMkLst>
          <pc:docMk/>
          <pc:sldMk cId="2416136566" sldId="265"/>
        </pc:sldMkLst>
        <pc:spChg chg="mod">
          <ac:chgData name="동찬 이" userId="2e13162d811cfad5" providerId="Windows Live" clId="Web-{1CEAE59F-DA6A-486F-B58E-42BE286DA3CF}" dt="2025-12-07T08:21:37.740" v="597" actId="20577"/>
          <ac:spMkLst>
            <pc:docMk/>
            <pc:sldMk cId="2416136566" sldId="265"/>
            <ac:spMk id="2" creationId="{C2536BF2-A79E-2CC3-993C-7F525366797D}"/>
          </ac:spMkLst>
        </pc:spChg>
        <pc:spChg chg="mod">
          <ac:chgData name="동찬 이" userId="2e13162d811cfad5" providerId="Windows Live" clId="Web-{1CEAE59F-DA6A-486F-B58E-42BE286DA3CF}" dt="2025-12-07T08:23:23.506" v="627" actId="20577"/>
          <ac:spMkLst>
            <pc:docMk/>
            <pc:sldMk cId="2416136566" sldId="265"/>
            <ac:spMk id="3" creationId="{0C7F6A2C-DB09-E336-67E4-F7532D8008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byman/rl-portfolio-optimizati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536581"/>
            <a:ext cx="9144000" cy="2580289"/>
          </a:xfrm>
        </p:spPr>
        <p:txBody>
          <a:bodyPr>
            <a:normAutofit/>
          </a:bodyPr>
          <a:lstStyle/>
          <a:p>
            <a:r>
              <a:rPr lang="ko-KR" sz="3200" dirty="0">
                <a:ea typeface="+mj-lt"/>
                <a:cs typeface="+mj-lt"/>
              </a:rPr>
              <a:t>강화학습을 이용한 고변동성/고배당 혼합 포트폴리오 최적화 (SOXL &amp; JEPQ)</a:t>
            </a:r>
            <a:br>
              <a:rPr lang="ko-KR" altLang="en-US" sz="3200" dirty="0">
                <a:ea typeface="+mj-lt"/>
                <a:cs typeface="+mj-lt"/>
              </a:rPr>
            </a:br>
            <a:br>
              <a:rPr lang="ko-KR" altLang="en-US" sz="3200" dirty="0">
                <a:ea typeface="+mj-lt"/>
                <a:cs typeface="+mj-lt"/>
              </a:rPr>
            </a:br>
            <a:r>
              <a:rPr lang="en-US" altLang="ko-KR" sz="2400" dirty="0">
                <a:ea typeface="맑은 고딕"/>
              </a:rPr>
              <a:t>- PPO </a:t>
            </a:r>
            <a:r>
              <a:rPr lang="en-US" altLang="ko-KR" sz="2400" err="1">
                <a:ea typeface="맑은 고딕"/>
              </a:rPr>
              <a:t>알고리즘과</a:t>
            </a:r>
            <a:r>
              <a:rPr lang="en-US" altLang="ko-KR" sz="2400" dirty="0">
                <a:ea typeface="맑은 고딕"/>
              </a:rPr>
              <a:t> Rule-based </a:t>
            </a:r>
            <a:r>
              <a:rPr lang="en-US" altLang="ko-KR" sz="2400" err="1">
                <a:ea typeface="맑은 고딕"/>
              </a:rPr>
              <a:t>전략의</a:t>
            </a:r>
            <a:r>
              <a:rPr lang="en-US" altLang="ko-KR" sz="2400" dirty="0">
                <a:ea typeface="맑은 고딕"/>
              </a:rPr>
              <a:t> </a:t>
            </a:r>
            <a:r>
              <a:rPr lang="en-US" altLang="ko-KR" sz="2400" err="1">
                <a:ea typeface="맑은 고딕"/>
              </a:rPr>
              <a:t>성과</a:t>
            </a:r>
            <a:r>
              <a:rPr lang="en-US" altLang="ko-KR" sz="2400" dirty="0">
                <a:ea typeface="맑은 고딕"/>
              </a:rPr>
              <a:t> </a:t>
            </a:r>
            <a:r>
              <a:rPr lang="en-US" altLang="ko-KR" sz="2400" err="1">
                <a:ea typeface="맑은 고딕"/>
              </a:rPr>
              <a:t>비교</a:t>
            </a:r>
            <a:r>
              <a:rPr lang="en-US" altLang="ko-KR" sz="2400" dirty="0">
                <a:ea typeface="맑은 고딕"/>
              </a:rPr>
              <a:t> </a:t>
            </a:r>
            <a:r>
              <a:rPr lang="en-US" altLang="ko-KR" sz="2400" err="1">
                <a:ea typeface="맑은 고딕"/>
              </a:rPr>
              <a:t>분석</a:t>
            </a:r>
            <a:endParaRPr lang="en-US" altLang="ko-KR" sz="2400"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err="1">
                <a:ea typeface="맑은 고딕"/>
              </a:rPr>
              <a:t>Github</a:t>
            </a:r>
            <a:r>
              <a:rPr lang="ko-KR" altLang="en-US">
                <a:ea typeface="맑은 고딕"/>
              </a:rPr>
              <a:t>: </a:t>
            </a:r>
            <a:r>
              <a:rPr lang="ko-KR" dirty="0">
                <a:ea typeface="+mn-lt"/>
                <a:cs typeface="+mn-lt"/>
                <a:hlinkClick r:id="rId2"/>
              </a:rPr>
              <a:t>https://github.com/gbyman/rl-portfolio-optimization</a:t>
            </a:r>
            <a:endParaRPr lang="ko-KR" altLang="en-US" dirty="0">
              <a:ea typeface="+mn-lt"/>
              <a:cs typeface="+mn-lt"/>
            </a:endParaRPr>
          </a:p>
          <a:p>
            <a:endParaRPr lang="ko-KR" dirty="0">
              <a:ea typeface="맑은 고딕"/>
            </a:endParaRPr>
          </a:p>
          <a:p>
            <a:r>
              <a:rPr lang="ko-KR" dirty="0">
                <a:latin typeface="Malgun Gothic"/>
                <a:ea typeface="Malgun Gothic"/>
              </a:rPr>
              <a:t>A73009 이동찬</a:t>
            </a:r>
          </a:p>
          <a:p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7E934-2B43-61FA-1CCC-873E21C9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1356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ea typeface="맑은 고딕"/>
              </a:rPr>
              <a:t>프로젝트 주제: </a:t>
            </a:r>
            <a:br>
              <a:rPr lang="ko-KR" altLang="en-US" sz="2800" dirty="0">
                <a:ea typeface="+mj-lt"/>
                <a:cs typeface="+mj-lt"/>
              </a:rPr>
            </a:br>
            <a:r>
              <a:rPr lang="ko-KR" altLang="en-US" sz="2800" dirty="0">
                <a:ea typeface="+mj-lt"/>
                <a:cs typeface="+mj-lt"/>
              </a:rPr>
              <a:t> </a:t>
            </a:r>
            <a:r>
              <a:rPr lang="en-US" altLang="en-US" sz="2000" dirty="0">
                <a:ea typeface="+mj-lt"/>
                <a:cs typeface="+mj-lt"/>
              </a:rPr>
              <a:t>-</a:t>
            </a:r>
            <a:r>
              <a:rPr lang="ko-KR" altLang="en-US" sz="2000" dirty="0">
                <a:ea typeface="+mj-lt"/>
                <a:cs typeface="+mj-lt"/>
              </a:rPr>
              <a:t> </a:t>
            </a:r>
            <a:r>
              <a:rPr lang="ko-KR" sz="2000" dirty="0">
                <a:ea typeface="+mj-lt"/>
                <a:cs typeface="+mj-lt"/>
              </a:rPr>
              <a:t>3배 레버리지 ETF(SOXL)의 높은 변동성을 커버드콜 ETF(JEPQ)의 배당 수익과 </a:t>
            </a:r>
            <a:r>
              <a:rPr lang="ko-KR" sz="2000" err="1">
                <a:ea typeface="+mj-lt"/>
                <a:cs typeface="+mj-lt"/>
              </a:rPr>
              <a:t>리밸런싱으로</a:t>
            </a:r>
            <a:r>
              <a:rPr lang="ko-KR" sz="2000" dirty="0">
                <a:ea typeface="+mj-lt"/>
                <a:cs typeface="+mj-lt"/>
              </a:rPr>
              <a:t> 제어하는 AI 에이전트 개발</a:t>
            </a:r>
            <a:br>
              <a:rPr lang="ko-KR" sz="2800" dirty="0">
                <a:ea typeface="+mj-lt"/>
                <a:cs typeface="+mj-lt"/>
              </a:rPr>
            </a:br>
            <a:br>
              <a:rPr lang="ko-KR" sz="2800" dirty="0">
                <a:ea typeface="+mj-lt"/>
                <a:cs typeface="+mj-lt"/>
              </a:rPr>
            </a:br>
            <a:r>
              <a:rPr lang="ko-KR" sz="2800" dirty="0">
                <a:ea typeface="+mj-lt"/>
                <a:cs typeface="+mj-lt"/>
              </a:rPr>
              <a:t>목표</a:t>
            </a:r>
            <a:r>
              <a:rPr lang="en-US" altLang="ko-KR" sz="2800" dirty="0">
                <a:ea typeface="+mj-lt"/>
                <a:cs typeface="+mj-lt"/>
              </a:rPr>
              <a:t>:</a:t>
            </a:r>
            <a:br>
              <a:rPr lang="en-US" altLang="ko-KR" sz="2800" dirty="0">
                <a:ea typeface="+mj-lt"/>
                <a:cs typeface="+mj-lt"/>
              </a:rPr>
            </a:br>
            <a:r>
              <a:rPr lang="en-US" sz="2000" dirty="0">
                <a:ea typeface="+mj-lt"/>
                <a:cs typeface="+mj-lt"/>
              </a:rPr>
              <a:t> - 인간의 직관적 </a:t>
            </a:r>
            <a:r>
              <a:rPr lang="en-US" sz="2000" err="1">
                <a:ea typeface="+mj-lt"/>
                <a:cs typeface="+mj-lt"/>
              </a:rPr>
              <a:t>전략</a:t>
            </a:r>
            <a:r>
              <a:rPr lang="en-US" sz="2000" dirty="0">
                <a:ea typeface="+mj-lt"/>
                <a:cs typeface="+mj-lt"/>
              </a:rPr>
              <a:t>(Rule-based: 1표준편차 </a:t>
            </a:r>
            <a:r>
              <a:rPr lang="en-US" sz="2000" err="1">
                <a:ea typeface="+mj-lt"/>
                <a:cs typeface="+mj-lt"/>
              </a:rPr>
              <a:t>매매</a:t>
            </a:r>
            <a:r>
              <a:rPr lang="en-US" sz="2000" dirty="0">
                <a:ea typeface="+mj-lt"/>
                <a:cs typeface="+mj-lt"/>
              </a:rPr>
              <a:t>)을 </a:t>
            </a:r>
            <a:r>
              <a:rPr lang="en-US" sz="2000" err="1">
                <a:ea typeface="+mj-lt"/>
                <a:cs typeface="+mj-lt"/>
              </a:rPr>
              <a:t>AI가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넘어설</a:t>
            </a:r>
            <a:r>
              <a:rPr lang="en-US" sz="2000" dirty="0">
                <a:ea typeface="+mj-lt"/>
                <a:cs typeface="+mj-lt"/>
              </a:rPr>
              <a:t> 수 </a:t>
            </a:r>
            <a:r>
              <a:rPr lang="en-US" sz="2000" err="1">
                <a:ea typeface="+mj-lt"/>
                <a:cs typeface="+mj-lt"/>
              </a:rPr>
              <a:t>있는지</a:t>
            </a:r>
            <a:r>
              <a:rPr lang="en-US" sz="2000">
                <a:ea typeface="+mj-lt"/>
                <a:cs typeface="+mj-lt"/>
              </a:rPr>
              <a:t> 검증</a:t>
            </a:r>
            <a:br>
              <a:rPr lang="en-US" sz="2000" dirty="0">
                <a:ea typeface="맑은 고딕"/>
              </a:rPr>
            </a:br>
            <a:r>
              <a:rPr lang="en-US" sz="2000">
                <a:ea typeface="+mj-lt"/>
                <a:cs typeface="+mj-lt"/>
              </a:rPr>
              <a:t> - </a:t>
            </a:r>
            <a:r>
              <a:rPr lang="ko-KR" altLang="en-US" sz="2000" dirty="0">
                <a:ea typeface="+mj-lt"/>
                <a:cs typeface="+mj-lt"/>
              </a:rPr>
              <a:t>단순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수익률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추구가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아닌</a:t>
            </a:r>
            <a:r>
              <a:rPr lang="en-US" sz="2000" dirty="0">
                <a:ea typeface="+mj-lt"/>
                <a:cs typeface="+mj-lt"/>
              </a:rPr>
              <a:t>, Sharpe Ratio(</a:t>
            </a:r>
            <a:r>
              <a:rPr lang="ko-KR" altLang="en-US" sz="2000" dirty="0">
                <a:ea typeface="+mj-lt"/>
                <a:cs typeface="+mj-lt"/>
              </a:rPr>
              <a:t>위험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대비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수익</a:t>
            </a:r>
            <a:r>
              <a:rPr lang="en-US" sz="2000" dirty="0">
                <a:ea typeface="+mj-lt"/>
                <a:cs typeface="+mj-lt"/>
              </a:rPr>
              <a:t>) </a:t>
            </a:r>
            <a:r>
              <a:rPr lang="ko-KR" altLang="en-US" sz="2000" dirty="0">
                <a:ea typeface="+mj-lt"/>
                <a:cs typeface="+mj-lt"/>
              </a:rPr>
              <a:t>극대화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가능성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탐구</a:t>
            </a:r>
            <a:br>
              <a:rPr lang="en-US" sz="2000" dirty="0">
                <a:ea typeface="+mj-lt"/>
                <a:cs typeface="+mj-lt"/>
              </a:rPr>
            </a:br>
            <a:br>
              <a:rPr lang="en-US" sz="2800" dirty="0">
                <a:ea typeface="+mj-lt"/>
                <a:cs typeface="+mj-lt"/>
              </a:rPr>
            </a:br>
            <a:r>
              <a:rPr lang="ko-KR" altLang="en-US" sz="2800" dirty="0">
                <a:ea typeface="+mj-lt"/>
                <a:cs typeface="+mj-lt"/>
              </a:rPr>
              <a:t>선정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ko-KR" altLang="en-US" sz="2800" err="1">
                <a:ea typeface="+mj-lt"/>
                <a:cs typeface="+mj-lt"/>
              </a:rPr>
              <a:t>배경</a:t>
            </a:r>
            <a:r>
              <a:rPr lang="en-US" sz="2800" dirty="0">
                <a:ea typeface="+mj-lt"/>
                <a:cs typeface="+mj-lt"/>
              </a:rPr>
              <a:t>: </a:t>
            </a:r>
            <a:br>
              <a:rPr lang="en-US" altLang="ko-KR" sz="2800" dirty="0">
                <a:ea typeface="+mj-lt"/>
                <a:cs typeface="+mj-lt"/>
              </a:rPr>
            </a:br>
            <a:r>
              <a:rPr lang="ko-KR" altLang="en-US" sz="2800" dirty="0">
                <a:ea typeface="+mj-lt"/>
                <a:cs typeface="+mj-lt"/>
              </a:rPr>
              <a:t> -</a:t>
            </a:r>
            <a:r>
              <a:rPr lang="ko-KR" altLang="en-US" sz="2000" dirty="0">
                <a:ea typeface="+mj-lt"/>
                <a:cs typeface="+mj-lt"/>
              </a:rPr>
              <a:t> 변동성이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큰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시장에서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기계적인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err="1">
                <a:ea typeface="+mj-lt"/>
                <a:cs typeface="+mj-lt"/>
              </a:rPr>
              <a:t>손절매보다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학습된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유연한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대응이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유효한지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확인하고자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ko-KR" altLang="en-US" sz="2000" dirty="0">
                <a:ea typeface="+mj-lt"/>
                <a:cs typeface="+mj-lt"/>
              </a:rPr>
              <a:t>함</a:t>
            </a:r>
            <a:r>
              <a:rPr lang="en-US" sz="2000" dirty="0">
                <a:ea typeface="+mj-lt"/>
                <a:cs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938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626F-23FF-CA33-6DFB-522FCB3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372" y="505263"/>
            <a:ext cx="10515600" cy="5599770"/>
          </a:xfrm>
        </p:spPr>
        <p:txBody>
          <a:bodyPr/>
          <a:lstStyle/>
          <a:p>
            <a:r>
              <a:rPr lang="ko-KR" altLang="en-US" sz="2800">
                <a:ea typeface="맑은 고딕"/>
              </a:rPr>
              <a:t>환경 및 데이터 셋(Preprocessing)</a:t>
            </a:r>
            <a:br>
              <a:rPr lang="ko-KR" altLang="en-US" sz="2800" dirty="0">
                <a:ea typeface="맑은 고딕"/>
              </a:rPr>
            </a:br>
            <a:br>
              <a:rPr lang="ko-KR" altLang="en-US" sz="2800" dirty="0">
                <a:ea typeface="맑은 고딕"/>
              </a:rPr>
            </a:br>
            <a:r>
              <a:rPr lang="ko-KR" altLang="en-US" sz="2400">
                <a:ea typeface="맑은 고딕"/>
              </a:rPr>
              <a:t>데이터 셋:</a:t>
            </a:r>
            <a:br>
              <a:rPr lang="ko-KR" altLang="en-US" sz="28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 - Source: Yahoo Finance API(yfinance)</a:t>
            </a:r>
            <a:br>
              <a:rPr lang="ko-KR" altLang="en-US" sz="20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 - 기간: 2022.11.01 ~ 2025.12(JEPQ 상장 이후 데이터 확보)</a:t>
            </a:r>
            <a:br>
              <a:rPr lang="ko-KR" altLang="en-US" sz="20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 - 대상 자산: SOXL(Risky Asset), JEPQ(Safe/Income Asset), SPY(Benchmark)</a:t>
            </a:r>
            <a:br>
              <a:rPr lang="ko-KR" altLang="en-US" sz="2000" dirty="0">
                <a:ea typeface="맑은 고딕"/>
              </a:rPr>
            </a:br>
            <a:br>
              <a:rPr lang="ko-KR" altLang="en-US" sz="2800" dirty="0">
                <a:ea typeface="맑은 고딕"/>
              </a:rPr>
            </a:br>
            <a:r>
              <a:rPr lang="ko-KR" altLang="en-US" sz="2400">
                <a:ea typeface="맑은 고딕"/>
              </a:rPr>
              <a:t>데이터 전처리(PreProcessing):</a:t>
            </a:r>
            <a:br>
              <a:rPr lang="ko-KR" altLang="en-US" sz="24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 - 결측치 처리: 휴장일 데이터 제거 및 선형 보간</a:t>
            </a:r>
            <a:br>
              <a:rPr lang="ko-KR" altLang="en-US" sz="20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 - Feature Engineering(핵심): 단순 가격이 아닌 통계적 지표 생성</a:t>
            </a:r>
            <a:br>
              <a:rPr lang="ko-KR" altLang="en-US" sz="20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  - Z-Score: (현재가 - 20일 이동평균)/20일 표준편차 -&gt; 상태(State)의 핵심변수</a:t>
            </a:r>
            <a:br>
              <a:rPr lang="ko-KR" altLang="en-US" sz="2000" dirty="0">
                <a:ea typeface="맑은 고딕"/>
              </a:rPr>
            </a:br>
            <a:r>
              <a:rPr lang="ko-KR" altLang="en-US" sz="2000">
                <a:ea typeface="맑은 고딕"/>
              </a:rPr>
              <a:t>  - RSI: 과매수/과매도 구간 식별을 위한 보조지표 정규화</a:t>
            </a:r>
            <a:endParaRPr lang="ko-KR" altLang="en-US" sz="20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0436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105F0-CB74-F625-F724-F0D4F7A3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746"/>
            <a:ext cx="10515600" cy="1325563"/>
          </a:xfrm>
        </p:spPr>
        <p:txBody>
          <a:bodyPr>
            <a:normAutofit/>
          </a:bodyPr>
          <a:lstStyle/>
          <a:p>
            <a:r>
              <a:rPr lang="ko-KR" sz="2800">
                <a:ea typeface="+mj-lt"/>
                <a:cs typeface="+mj-lt"/>
              </a:rPr>
              <a:t>MDP 설계 (State, Action, Reward) </a:t>
            </a:r>
            <a:endParaRPr lang="ko-KR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A4BC3-A2B2-2874-4D54-0F6BA54E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1763"/>
            <a:ext cx="10515600" cy="446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sz="2400">
                <a:ea typeface="+mn-lt"/>
                <a:cs typeface="+mn-lt"/>
              </a:rPr>
              <a:t>State (Observation Space): 9차원 벡터</a:t>
            </a:r>
            <a:endParaRPr lang="ko-KR" alt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시장 정보: Price, </a:t>
            </a:r>
            <a:r>
              <a:rPr lang="ko-KR" sz="2000" b="1">
                <a:ea typeface="+mn-lt"/>
                <a:cs typeface="+mn-lt"/>
              </a:rPr>
              <a:t>Z-Score(이격도)</a:t>
            </a:r>
            <a:r>
              <a:rPr lang="ko-KR" sz="2000">
                <a:ea typeface="+mn-lt"/>
                <a:cs typeface="+mn-lt"/>
              </a:rPr>
              <a:t>, RSI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계좌 정보: Cash, Holdings(SOXL/JEPQ), Net Worth, SOXL 수익률</a:t>
            </a:r>
            <a:endParaRPr lang="ko-KR" sz="2000">
              <a:ea typeface="맑은 고딕" panose="020F0502020204030204"/>
            </a:endParaRPr>
          </a:p>
          <a:p>
            <a:r>
              <a:rPr lang="ko-KR" sz="2400">
                <a:ea typeface="+mn-lt"/>
                <a:cs typeface="+mn-lt"/>
              </a:rPr>
              <a:t>Action (Discrete Space): 5개 이산 행동</a:t>
            </a:r>
            <a:endParaRPr lang="ko-KR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Consolas"/>
                <a:ea typeface="맑은 고딕"/>
              </a:rPr>
              <a:t>0</a:t>
            </a:r>
            <a:r>
              <a:rPr lang="ko-KR" sz="2000">
                <a:ea typeface="+mn-lt"/>
                <a:cs typeface="+mn-lt"/>
              </a:rPr>
              <a:t>: 관망 (Hold)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Consolas"/>
                <a:ea typeface="맑은 고딕"/>
              </a:rPr>
              <a:t>1</a:t>
            </a:r>
            <a:r>
              <a:rPr lang="ko-KR" sz="2000">
                <a:ea typeface="+mn-lt"/>
                <a:cs typeface="+mn-lt"/>
              </a:rPr>
              <a:t>: 추격 매수 (매수 SOXL 고정 </a:t>
            </a:r>
            <a:r>
              <a:rPr lang="ko-KR" altLang="en-US" sz="2000">
                <a:ea typeface="+mn-lt"/>
                <a:cs typeface="+mn-lt"/>
              </a:rPr>
              <a:t>수량</a:t>
            </a:r>
            <a:r>
              <a:rPr lang="ko-KR" sz="2000">
                <a:ea typeface="+mn-lt"/>
                <a:cs typeface="+mn-lt"/>
              </a:rPr>
              <a:t>)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Consolas"/>
                <a:ea typeface="맑은 고딕"/>
              </a:rPr>
              <a:t>2</a:t>
            </a:r>
            <a:r>
              <a:rPr lang="ko-KR" sz="2000">
                <a:ea typeface="+mn-lt"/>
                <a:cs typeface="+mn-lt"/>
              </a:rPr>
              <a:t>: 약한 리밸런싱 (매도 10% SOXL </a:t>
            </a:r>
            <a:r>
              <a:rPr lang="en-US" altLang="ko-KR" sz="2000">
                <a:ea typeface="+mn-lt"/>
                <a:cs typeface="+mn-lt"/>
              </a:rPr>
              <a:t>-&gt;</a:t>
            </a:r>
            <a:r>
              <a:rPr lang="ko-KR" altLang="en-US" sz="2000" dirty="0">
                <a:ea typeface="+mn-lt"/>
                <a:cs typeface="+mn-lt"/>
              </a:rPr>
              <a:t> </a:t>
            </a:r>
            <a:r>
              <a:rPr lang="ko-KR" sz="2000">
                <a:ea typeface="+mn-lt"/>
                <a:cs typeface="+mn-lt"/>
              </a:rPr>
              <a:t>JEPQ)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Consolas"/>
                <a:ea typeface="맑은 고딕"/>
              </a:rPr>
              <a:t>3</a:t>
            </a:r>
            <a:r>
              <a:rPr lang="ko-KR" sz="2000">
                <a:ea typeface="+mn-lt"/>
                <a:cs typeface="+mn-lt"/>
              </a:rPr>
              <a:t>: 강한 리밸런싱 (</a:t>
            </a:r>
            <a:r>
              <a:rPr lang="ko-KR" altLang="en-US" sz="2000">
                <a:ea typeface="+mn-lt"/>
                <a:cs typeface="+mn-lt"/>
              </a:rPr>
              <a:t>매도</a:t>
            </a:r>
            <a:r>
              <a:rPr lang="ko-KR" sz="2000">
                <a:ea typeface="+mn-lt"/>
                <a:cs typeface="+mn-lt"/>
              </a:rPr>
              <a:t> 50% SOXL </a:t>
            </a:r>
            <a:r>
              <a:rPr lang="en-US" altLang="ko-KR" sz="2000">
                <a:ea typeface="+mn-lt"/>
                <a:cs typeface="+mn-lt"/>
              </a:rPr>
              <a:t>-&gt;</a:t>
            </a:r>
            <a:r>
              <a:rPr lang="ko-KR" sz="2000">
                <a:ea typeface="+mn-lt"/>
                <a:cs typeface="+mn-lt"/>
              </a:rPr>
              <a:t> JEPQ, 위기 대응)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Consolas"/>
                <a:ea typeface="맑은 고딕"/>
              </a:rPr>
              <a:t>4</a:t>
            </a:r>
            <a:r>
              <a:rPr lang="ko-KR" sz="2000">
                <a:ea typeface="+mn-lt"/>
                <a:cs typeface="+mn-lt"/>
              </a:rPr>
              <a:t>: 공격 전환 (</a:t>
            </a:r>
            <a:r>
              <a:rPr lang="ko-KR" altLang="en-US" sz="2000">
                <a:ea typeface="+mn-lt"/>
                <a:cs typeface="+mn-lt"/>
              </a:rPr>
              <a:t>매도</a:t>
            </a:r>
            <a:r>
              <a:rPr lang="ko-KR" sz="2000">
                <a:ea typeface="+mn-lt"/>
                <a:cs typeface="+mn-lt"/>
              </a:rPr>
              <a:t> JEPQ </a:t>
            </a:r>
            <a:r>
              <a:rPr lang="en-US" altLang="ko-KR" sz="2000">
                <a:ea typeface="+mn-lt"/>
                <a:cs typeface="+mn-lt"/>
              </a:rPr>
              <a:t>-&gt;</a:t>
            </a:r>
            <a:r>
              <a:rPr lang="ko-KR" sz="2000">
                <a:ea typeface="+mn-lt"/>
                <a:cs typeface="+mn-lt"/>
              </a:rPr>
              <a:t> SOXL)</a:t>
            </a:r>
            <a:endParaRPr lang="ko-KR" sz="2000">
              <a:ea typeface="맑은 고딕"/>
            </a:endParaRPr>
          </a:p>
          <a:p>
            <a:r>
              <a:rPr lang="ko-KR" sz="2400">
                <a:ea typeface="+mn-lt"/>
                <a:cs typeface="+mn-lt"/>
              </a:rPr>
              <a:t>Reward (보상 함수):</a:t>
            </a:r>
            <a:endParaRPr lang="ko-KR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sz="2000">
                <a:ea typeface="+mn-lt"/>
                <a:cs typeface="+mn-lt"/>
              </a:rPr>
              <a:t>Rt</a:t>
            </a:r>
            <a:r>
              <a:rPr lang="ko-KR" sz="2000">
                <a:ea typeface="+mn-lt"/>
                <a:cs typeface="+mn-lt"/>
              </a:rPr>
              <a:t> = ln(</a:t>
            </a:r>
            <a:r>
              <a:rPr lang="en-US" altLang="ko-KR" sz="2000">
                <a:ea typeface="+mn-lt"/>
                <a:cs typeface="+mn-lt"/>
              </a:rPr>
              <a:t>Vt</a:t>
            </a:r>
            <a:r>
              <a:rPr lang="ko-KR" sz="2000">
                <a:ea typeface="+mn-lt"/>
                <a:cs typeface="+mn-lt"/>
              </a:rPr>
              <a:t> / V</a:t>
            </a:r>
            <a:r>
              <a:rPr lang="en-US" altLang="ko-KR" sz="2000">
                <a:ea typeface="+mn-lt"/>
                <a:cs typeface="+mn-lt"/>
              </a:rPr>
              <a:t>{</a:t>
            </a:r>
            <a:r>
              <a:rPr lang="ko-KR" sz="2000">
                <a:ea typeface="+mn-lt"/>
                <a:cs typeface="+mn-lt"/>
              </a:rPr>
              <a:t>t-1</a:t>
            </a:r>
            <a:r>
              <a:rPr lang="en-US" altLang="ko-KR" sz="2000">
                <a:ea typeface="+mn-lt"/>
                <a:cs typeface="+mn-lt"/>
              </a:rPr>
              <a:t>})</a:t>
            </a:r>
            <a:r>
              <a:rPr lang="ko-KR" sz="2000">
                <a:ea typeface="+mn-lt"/>
                <a:cs typeface="+mn-lt"/>
              </a:rPr>
              <a:t> (일일 포트폴리오 가치 로그 수익률)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설계 의도</a:t>
            </a:r>
            <a:r>
              <a:rPr lang="ko-KR" sz="2000" i="1">
                <a:ea typeface="+mn-lt"/>
                <a:cs typeface="+mn-lt"/>
              </a:rPr>
              <a:t>:</a:t>
            </a:r>
            <a:r>
              <a:rPr lang="ko-KR" sz="2000">
                <a:ea typeface="+mn-lt"/>
                <a:cs typeface="+mn-lt"/>
              </a:rPr>
              <a:t> 자산 가치의 절대적 증가를 목표로 함</a:t>
            </a:r>
            <a:endParaRPr lang="ko-KR" sz="200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4260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8D5B8-6B50-CAD2-3CF6-01DADC20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2800">
                <a:ea typeface="+mj-lt"/>
                <a:cs typeface="+mj-lt"/>
              </a:rPr>
              <a:t>알고리즘 및 하이퍼파라미터 </a:t>
            </a:r>
            <a:endParaRPr lang="ko-KR" sz="28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9A54B8-D828-CBD4-9A6B-C28D5AAF6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400">
                <a:ea typeface="+mn-lt"/>
                <a:cs typeface="+mn-lt"/>
              </a:rPr>
              <a:t>알고리즘: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ko-KR" sz="2400">
                <a:ea typeface="+mn-lt"/>
                <a:cs typeface="+mn-lt"/>
              </a:rPr>
              <a:t>PPO (Proximal Policy Optimization)</a:t>
            </a:r>
            <a:endParaRPr lang="ko-KR" alt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선정 이유: 금융 데이터의 노이즈로 인한 정책 붕괴를 막기 위해 Clipping(급격한 업데이트 방지) 기법이 적용된 안정적인 알고리즘이 필요했음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000" dirty="0">
              <a:ea typeface="+mn-lt"/>
              <a:cs typeface="+mn-lt"/>
            </a:endParaRPr>
          </a:p>
          <a:p>
            <a:r>
              <a:rPr lang="ko-KR" sz="2400">
                <a:ea typeface="+mn-lt"/>
                <a:cs typeface="+mn-lt"/>
              </a:rPr>
              <a:t>네트워크 구조</a:t>
            </a:r>
            <a:r>
              <a:rPr lang="ko-KR" b="1">
                <a:ea typeface="+mn-lt"/>
                <a:cs typeface="+mn-lt"/>
              </a:rPr>
              <a:t>: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sz="2000">
                <a:ea typeface="+mn-lt"/>
                <a:cs typeface="+mn-lt"/>
              </a:rPr>
              <a:t>Actor-Critic (MlpPolicy)</a:t>
            </a:r>
            <a:endParaRPr lang="ko-KR" sz="2000">
              <a:ea typeface="맑은 고딕"/>
            </a:endParaRPr>
          </a:p>
          <a:p>
            <a:endParaRPr lang="ko-KR" altLang="en-US" sz="2000" dirty="0">
              <a:ea typeface="+mn-lt"/>
              <a:cs typeface="+mn-lt"/>
            </a:endParaRPr>
          </a:p>
          <a:p>
            <a:r>
              <a:rPr lang="ko-KR" sz="2400">
                <a:ea typeface="+mn-lt"/>
                <a:cs typeface="+mn-lt"/>
              </a:rPr>
              <a:t>Hyperparameters</a:t>
            </a:r>
            <a:r>
              <a:rPr lang="ko-KR" b="1">
                <a:ea typeface="+mn-lt"/>
                <a:cs typeface="+mn-lt"/>
              </a:rPr>
              <a:t>:</a:t>
            </a:r>
            <a:endParaRPr lang="ko-KR"/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Malgun Gothic"/>
                <a:ea typeface="Malgun Gothic"/>
              </a:rPr>
              <a:t>Learning Rate</a:t>
            </a:r>
            <a:r>
              <a:rPr lang="ko-KR" sz="2000">
                <a:ea typeface="+mn-lt"/>
                <a:cs typeface="+mn-lt"/>
              </a:rPr>
              <a:t>: 0.0003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Malgun Gothic"/>
                <a:ea typeface="Malgun Gothic"/>
              </a:rPr>
              <a:t>Gamma (Discount Factor)</a:t>
            </a:r>
            <a:r>
              <a:rPr lang="ko-KR" sz="2000">
                <a:ea typeface="+mn-lt"/>
                <a:cs typeface="+mn-lt"/>
              </a:rPr>
              <a:t>: 0.99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Malgun Gothic"/>
                <a:ea typeface="Malgun Gothic"/>
              </a:rPr>
              <a:t>Total Timesteps</a:t>
            </a:r>
            <a:r>
              <a:rPr lang="ko-KR" sz="2000">
                <a:ea typeface="+mn-lt"/>
                <a:cs typeface="+mn-lt"/>
              </a:rPr>
              <a:t>: 100,000 (Epoch 약 130회)</a:t>
            </a:r>
            <a:endParaRPr 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latin typeface="Malgun Gothic"/>
                <a:ea typeface="Malgun Gothic"/>
              </a:rPr>
              <a:t>Entroypy Coefficient</a:t>
            </a:r>
            <a:r>
              <a:rPr lang="ko-KR" sz="2000">
                <a:ea typeface="+mn-lt"/>
                <a:cs typeface="+mn-lt"/>
              </a:rPr>
              <a:t>: 0.0 (탐험보다는 수렴 중시)</a:t>
            </a:r>
            <a:endParaRPr lang="ko-KR" sz="2000">
              <a:ea typeface="맑은 고딕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9993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C48B2-9AD4-E5BE-847B-4D0DF3B0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2800">
                <a:ea typeface="+mj-lt"/>
                <a:cs typeface="+mj-lt"/>
              </a:rPr>
              <a:t>실험 셋업 및 환경</a:t>
            </a:r>
            <a:endParaRPr lang="ko-KR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A5F1E-8D66-1A58-3994-BB35E8F6E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400">
                <a:ea typeface="+mn-lt"/>
                <a:cs typeface="+mn-lt"/>
              </a:rPr>
              <a:t>초기 자본</a:t>
            </a:r>
            <a:r>
              <a:rPr lang="ko-KR" b="1">
                <a:ea typeface="+mn-lt"/>
                <a:cs typeface="+mn-lt"/>
              </a:rPr>
              <a:t>: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sz="2000">
                <a:ea typeface="+mn-lt"/>
                <a:cs typeface="+mn-lt"/>
              </a:rPr>
              <a:t>$70,000 (약 1억 원)</a:t>
            </a:r>
            <a:endParaRPr lang="ko-KR" altLang="en-US" sz="2000">
              <a:ea typeface="+mn-lt"/>
              <a:cs typeface="+mn-lt"/>
            </a:endParaRPr>
          </a:p>
          <a:p>
            <a:endParaRPr lang="ko-KR" altLang="en-US" sz="2000" dirty="0">
              <a:ea typeface="+mn-lt"/>
              <a:cs typeface="+mn-lt"/>
            </a:endParaRPr>
          </a:p>
          <a:p>
            <a:r>
              <a:rPr lang="ko-KR" sz="2400">
                <a:ea typeface="+mn-lt"/>
                <a:cs typeface="+mn-lt"/>
              </a:rPr>
              <a:t>시뮬레이션 환경 (Custom Env):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월 적립: 매 20거래일마다 $1,000 추가 투입 (JEPQ 매수</a:t>
            </a:r>
            <a:r>
              <a:rPr lang="en-US" altLang="ko-KR" sz="2000">
                <a:ea typeface="+mn-lt"/>
                <a:cs typeface="+mn-lt"/>
              </a:rPr>
              <a:t>)</a:t>
            </a:r>
            <a:endParaRPr lang="ko-KR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배당 재투자: JEPQ 배당금 발생 시 즉시 재매수 로직 구현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000" dirty="0">
              <a:ea typeface="+mn-lt"/>
              <a:cs typeface="+mn-lt"/>
            </a:endParaRPr>
          </a:p>
          <a:p>
            <a:r>
              <a:rPr lang="ko-KR" sz="2400">
                <a:ea typeface="+mn-lt"/>
                <a:cs typeface="+mn-lt"/>
              </a:rPr>
              <a:t>Evaluation Metrics:</a:t>
            </a:r>
            <a:r>
              <a:rPr lang="ko-KR" sz="2400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Total Return: 최종 수익률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Sharpe Ratio: 투자 효율성 (수익/변동성)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MDD (Maximum Drawdown): 최대 낙폭 (리스크 관리 능력)</a:t>
            </a: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6138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27ABDB-1CBA-8583-4139-BC2D683C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2800">
                <a:ea typeface="+mj-lt"/>
                <a:cs typeface="+mj-lt"/>
              </a:rPr>
              <a:t>실험 결과 (시각화 및 비교)</a:t>
            </a:r>
            <a:endParaRPr lang="ko-KR" sz="2800"/>
          </a:p>
        </p:txBody>
      </p:sp>
      <p:pic>
        <p:nvPicPr>
          <p:cNvPr id="4" name="내용 개체 틀 3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D4FD59-A4DE-3339-2F87-7ED87756B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729" y="1694852"/>
            <a:ext cx="8609462" cy="45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9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FC911-B8A4-29E8-BCC3-091813B2D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536"/>
            <a:ext cx="10515600" cy="5329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>
              <a:buFont typeface=""/>
              <a:buChar char="•"/>
            </a:pPr>
            <a:r>
              <a:rPr lang="ko-KR" altLang="en-US" sz="2400">
                <a:ea typeface="맑은 고딕"/>
              </a:rPr>
              <a:t>비교 대상</a:t>
            </a:r>
            <a:r>
              <a:rPr lang="en-US" altLang="ko-KR" sz="2400">
                <a:ea typeface="맑은 고딕"/>
              </a:rPr>
              <a:t>:</a:t>
            </a:r>
          </a:p>
          <a:p>
            <a:pPr marL="685800" lvl="2" indent="-228600">
              <a:buFont typeface="Wingdings"/>
              <a:buChar char="§"/>
            </a:pPr>
            <a:r>
              <a:rPr lang="af-ZA"/>
              <a:t>AI Agent (PPO)</a:t>
            </a:r>
            <a:endParaRPr lang="af-ZA"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r>
              <a:rPr lang="af-ZA"/>
              <a:t>Rule-based Strategy: (SOXL -1</a:t>
            </a:r>
            <a:r>
              <a:rPr lang="el-GR"/>
              <a:t>σ </a:t>
            </a:r>
            <a:r>
              <a:rPr lang="ko-KR" altLang="en-US">
                <a:ea typeface="맑은 고딕"/>
              </a:rPr>
              <a:t>하락 시 매수</a:t>
            </a:r>
            <a:r>
              <a:rPr lang="en-US" altLang="ko-KR">
                <a:ea typeface="맑은 고딕"/>
              </a:rPr>
              <a:t>, +75% </a:t>
            </a:r>
            <a:r>
              <a:rPr lang="ko-KR" altLang="en-US">
                <a:ea typeface="맑은 고딕"/>
              </a:rPr>
              <a:t>수익 시 리밸런싱</a:t>
            </a:r>
            <a:r>
              <a:rPr lang="en-US" altLang="ko-KR">
                <a:ea typeface="맑은 고딕"/>
              </a:rPr>
              <a:t>)</a:t>
            </a:r>
          </a:p>
          <a:p>
            <a:pPr marL="685800" lvl="2" indent="-228600">
              <a:buFont typeface="Wingdings"/>
              <a:buChar char="§"/>
            </a:pPr>
            <a:r>
              <a:rPr lang="af-ZA"/>
              <a:t>Benchmark: SPY Buy &amp; Hold</a:t>
            </a:r>
            <a:endParaRPr lang="af-ZA">
              <a:ea typeface="맑은 고딕"/>
            </a:endParaRPr>
          </a:p>
          <a:p>
            <a:pPr marL="685800" lvl="2">
              <a:buFont typeface="Wingdings"/>
              <a:buChar char="§"/>
            </a:pPr>
            <a:endParaRPr lang="af-ZA" altLang="ko-KR" dirty="0"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2400">
                <a:ea typeface="맑은 고딕"/>
              </a:rPr>
              <a:t>결과 분석</a:t>
            </a:r>
            <a:r>
              <a:rPr lang="en-US" altLang="ko-KR" sz="2400">
                <a:ea typeface="맑은 고딕"/>
              </a:rPr>
              <a:t>:</a:t>
            </a:r>
          </a:p>
          <a:p>
            <a:pPr marL="685800" lvl="2" indent="-228600">
              <a:buFont typeface="Wingdings"/>
              <a:buChar char="§"/>
            </a:pPr>
            <a:r>
              <a:rPr lang="ko-KR" altLang="en-US">
                <a:ea typeface="맑은 고딕"/>
              </a:rPr>
              <a:t>수익률</a:t>
            </a:r>
            <a:r>
              <a:rPr lang="en-US" altLang="ko-KR">
                <a:ea typeface="맑은 고딕"/>
              </a:rPr>
              <a:t>:</a:t>
            </a:r>
            <a:r>
              <a:rPr lang="ko-KR" altLang="en-US" dirty="0">
                <a:ea typeface="맑은 고딕"/>
              </a:rPr>
              <a:t> </a:t>
            </a:r>
            <a:r>
              <a:rPr lang="af-ZA"/>
              <a:t>AI (244%) &gt; Rule (228%) &gt; Benchmark (80%)</a:t>
            </a:r>
            <a:endParaRPr lang="af-ZA"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r>
              <a:rPr lang="ko-KR" altLang="en-US">
                <a:ea typeface="맑은 고딕"/>
              </a:rPr>
              <a:t>안정성</a:t>
            </a:r>
            <a:r>
              <a:rPr lang="en-US" altLang="ko-KR">
                <a:ea typeface="맑은 고딕"/>
              </a:rPr>
              <a:t>(</a:t>
            </a:r>
            <a:r>
              <a:rPr lang="af-ZA"/>
              <a:t>Sharpe): Rule (2.07) &gt; Benchmark (1.33) &gt; AI (0.91)</a:t>
            </a:r>
            <a:endParaRPr lang="af-ZA">
              <a:ea typeface="맑은 고딕"/>
            </a:endParaRPr>
          </a:p>
          <a:p>
            <a:pPr marL="685800" lvl="2" indent="-228600">
              <a:buFont typeface="Wingdings"/>
              <a:buChar char="§"/>
            </a:pPr>
            <a:r>
              <a:rPr lang="ko-KR" altLang="en-US">
                <a:ea typeface="맑은 고딕"/>
              </a:rPr>
              <a:t>해석</a:t>
            </a:r>
            <a:r>
              <a:rPr lang="en-US" altLang="ko-KR">
                <a:ea typeface="맑은 고딕"/>
              </a:rPr>
              <a:t>:</a:t>
            </a:r>
            <a:r>
              <a:rPr lang="ko-KR" altLang="en-US" dirty="0">
                <a:ea typeface="맑은 고딕"/>
              </a:rPr>
              <a:t> </a:t>
            </a:r>
            <a:r>
              <a:rPr lang="af-ZA"/>
              <a:t>AI</a:t>
            </a:r>
            <a:r>
              <a:rPr lang="ko-KR" altLang="en-US">
                <a:ea typeface="맑은 고딕"/>
              </a:rPr>
              <a:t>는 수익률은 높았으나 </a:t>
            </a:r>
            <a:r>
              <a:rPr lang="af-ZA"/>
              <a:t>MDD</a:t>
            </a:r>
            <a:r>
              <a:rPr lang="ko-KR" altLang="en-US">
                <a:ea typeface="맑은 고딕"/>
              </a:rPr>
              <a:t>가 </a:t>
            </a:r>
            <a:r>
              <a:rPr lang="en-US" altLang="ko-KR">
                <a:ea typeface="맑은 고딕"/>
              </a:rPr>
              <a:t>-83%</a:t>
            </a:r>
            <a:r>
              <a:rPr lang="ko-KR" altLang="en-US">
                <a:ea typeface="맑은 고딕"/>
              </a:rPr>
              <a:t>에 달해 과도한 위험을 감수함</a:t>
            </a:r>
            <a:r>
              <a:rPr lang="en-US" altLang="ko-KR" dirty="0">
                <a:ea typeface="맑은 고딕"/>
              </a:rPr>
              <a:t>. </a:t>
            </a:r>
            <a:r>
              <a:rPr lang="ko-KR" altLang="en-US">
                <a:ea typeface="맑은 고딕"/>
              </a:rPr>
              <a:t>반면</a:t>
            </a:r>
            <a:r>
              <a:rPr lang="en-US" altLang="ko-KR" dirty="0">
                <a:ea typeface="맑은 고딕"/>
              </a:rPr>
              <a:t>, </a:t>
            </a:r>
            <a:r>
              <a:rPr lang="af-ZA"/>
              <a:t>Rule-based</a:t>
            </a:r>
            <a:r>
              <a:rPr lang="ko-KR" altLang="en-US">
                <a:ea typeface="맑은 고딕"/>
              </a:rPr>
              <a:t>는 안정적인 우상향 곡선을 그림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3845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083FC-3CB8-F8E3-AD44-FBFEF74E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2800">
                <a:ea typeface="+mj-lt"/>
                <a:cs typeface="+mj-lt"/>
              </a:rPr>
              <a:t>토의 및 결론</a:t>
            </a:r>
            <a:endParaRPr lang="ko-KR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81B4F-DA7B-FB02-6B5F-E1D01F137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400">
                <a:ea typeface="+mn-lt"/>
                <a:cs typeface="+mn-lt"/>
              </a:rPr>
              <a:t>실험 결과에 대한 고찰:</a:t>
            </a:r>
            <a:r>
              <a:rPr lang="ko-KR" sz="2400" dirty="0">
                <a:ea typeface="+mn-lt"/>
                <a:cs typeface="+mn-lt"/>
              </a:rPr>
              <a:t> </a:t>
            </a:r>
            <a:endParaRPr lang="ko-KR" altLang="en-US" sz="2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AI는 보상 함수가 '수익률'에만 집중되어 있어, High Risk-High Return</a:t>
            </a:r>
            <a:r>
              <a:rPr lang="ko-KR" altLang="en-US" sz="2000">
                <a:ea typeface="+mn-lt"/>
                <a:cs typeface="+mn-lt"/>
              </a:rPr>
              <a:t>으로</a:t>
            </a:r>
            <a:r>
              <a:rPr lang="ko-KR" sz="2000">
                <a:ea typeface="+mn-lt"/>
                <a:cs typeface="+mn-lt"/>
              </a:rPr>
              <a:t> 수렴함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반면, 인간이 설계한 '1표준편차 전략'은 하락장에서 현금을 확보하고 저점에서 매수하는 이상적인 리스크 관리를 수행함이 증명됨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sz="2000" dirty="0">
              <a:ea typeface="+mn-lt"/>
              <a:cs typeface="+mn-lt"/>
            </a:endParaRPr>
          </a:p>
          <a:p>
            <a:r>
              <a:rPr lang="ko-KR" sz="2400">
                <a:ea typeface="+mn-lt"/>
                <a:cs typeface="+mn-lt"/>
              </a:rPr>
              <a:t>결론: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강화학습은 복잡한 시장 상황에서도 높은 수익을 낼 잠재력이 있음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하지만 '안정성'을 학습시키기 위해서는 보상 함수 설계가 매우 중요함</a:t>
            </a: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87419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36BF2-A79E-2CC3-993C-7F525366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2800">
                <a:ea typeface="+mj-lt"/>
                <a:cs typeface="+mj-lt"/>
              </a:rPr>
              <a:t>보완 및 개선사항</a:t>
            </a:r>
            <a:endParaRPr lang="ko-KR" sz="2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F6A2C-DB09-E336-67E4-F7532D800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sz="2400">
                <a:ea typeface="+mn-lt"/>
                <a:cs typeface="+mn-lt"/>
              </a:rPr>
              <a:t>Reward Function 개선</a:t>
            </a:r>
            <a:r>
              <a:rPr lang="ko-KR">
                <a:ea typeface="+mn-lt"/>
                <a:cs typeface="+mn-lt"/>
              </a:rPr>
              <a:t>:</a:t>
            </a:r>
            <a:endParaRPr lang="ko-KR" altLang="en-US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수익률에서 변동성(Volatility) 페널티를 차감하여, MDD를 줄이는 방향으로 학습 유도 필요</a:t>
            </a:r>
            <a:endParaRPr lang="ko-KR" altLang="en-US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Reward = Return - lambda </a:t>
            </a:r>
            <a:r>
              <a:rPr lang="ko-KR" altLang="en-US" sz="2000">
                <a:ea typeface="+mn-lt"/>
                <a:cs typeface="+mn-lt"/>
              </a:rPr>
              <a:t>* </a:t>
            </a:r>
            <a:r>
              <a:rPr lang="ko-KR" sz="2000">
                <a:ea typeface="+mn-lt"/>
                <a:cs typeface="+mn-lt"/>
              </a:rPr>
              <a:t>Volatility</a:t>
            </a:r>
            <a:endParaRPr lang="en-US" altLang="ko-KR" sz="200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dirty="0">
              <a:ea typeface="+mn-lt"/>
              <a:cs typeface="+mn-lt"/>
            </a:endParaRPr>
          </a:p>
          <a:p>
            <a:r>
              <a:rPr lang="ko-KR" sz="2400">
                <a:ea typeface="+mn-lt"/>
                <a:cs typeface="+mn-lt"/>
              </a:rPr>
              <a:t>데이터 확장:</a:t>
            </a:r>
            <a:r>
              <a:rPr lang="ko-KR" dirty="0">
                <a:ea typeface="+mn-lt"/>
                <a:cs typeface="+mn-lt"/>
              </a:rPr>
              <a:t> </a:t>
            </a:r>
            <a:endParaRPr lang="ko-KR" altLang="en-US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sz="2000">
                <a:ea typeface="+mn-lt"/>
                <a:cs typeface="+mn-lt"/>
              </a:rPr>
              <a:t>2022년 이전의 하락장(닷컴 버블, 리만 사태 등) 데이터를 증강(Augmentation)하여 위기 대응 능력 강화 필요</a:t>
            </a:r>
            <a:endParaRPr lang="ko-KR" sz="2000">
              <a:ea typeface="맑은 고딕"/>
            </a:endParaRPr>
          </a:p>
          <a:p>
            <a:endParaRPr lang="ko-KR" altLang="en-US" sz="20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1613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강화학습을 이용한 고변동성/고배당 혼합 포트폴리오 최적화 (SOXL &amp; JEPQ)  - PPO 알고리즘과 Rule-based 전략의 성과 비교 분석</vt:lpstr>
      <vt:lpstr>프로젝트 주제:   - 3배 레버리지 ETF(SOXL)의 높은 변동성을 커버드콜 ETF(JEPQ)의 배당 수익과 리밸런싱으로 제어하는 AI 에이전트 개발  목표:  - 인간의 직관적 전략(Rule-based: 1표준편차 매매)을 AI가 넘어설 수 있는지 검증  - 단순 수익률 추구가 아닌, Sharpe Ratio(위험 대비 수익) 극대화 가능성 탐구  선정 배경:   - 변동성이 큰 시장에서 기계적인 손절매보다 학습된 유연한 대응이 유효한지 확인하고자 함.</vt:lpstr>
      <vt:lpstr>환경 및 데이터 셋(Preprocessing)  데이터 셋:  - Source: Yahoo Finance API(yfinance)  - 기간: 2022.11.01 ~ 2025.12(JEPQ 상장 이후 데이터 확보)  - 대상 자산: SOXL(Risky Asset), JEPQ(Safe/Income Asset), SPY(Benchmark)  데이터 전처리(PreProcessing):  - 결측치 처리: 휴장일 데이터 제거 및 선형 보간  - Feature Engineering(핵심): 단순 가격이 아닌 통계적 지표 생성   - Z-Score: (현재가 - 20일 이동평균)/20일 표준편차 -&gt; 상태(State)의 핵심변수   - RSI: 과매수/과매도 구간 식별을 위한 보조지표 정규화</vt:lpstr>
      <vt:lpstr>MDP 설계 (State, Action, Reward) </vt:lpstr>
      <vt:lpstr>알고리즘 및 하이퍼파라미터 </vt:lpstr>
      <vt:lpstr>실험 셋업 및 환경</vt:lpstr>
      <vt:lpstr>실험 결과 (시각화 및 비교)</vt:lpstr>
      <vt:lpstr>PowerPoint 프레젠테이션</vt:lpstr>
      <vt:lpstr>토의 및 결론</vt:lpstr>
      <vt:lpstr>보완 및 개선사항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2025-12-07T07:36:38Z</dcterms:created>
  <dcterms:modified xsi:type="dcterms:W3CDTF">2025-12-07T08:25:20Z</dcterms:modified>
</cp:coreProperties>
</file>